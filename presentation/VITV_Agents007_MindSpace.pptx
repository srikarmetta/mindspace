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7" roundtripDataSignature="AMtx7mgQuomGbdS/wh2yqkB/K4YAZ70YA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2944" autoAdjust="0"/>
  </p:normalViewPr>
  <p:slideViewPr>
    <p:cSldViewPr snapToGrid="0">
      <p:cViewPr varScale="1">
        <p:scale>
          <a:sx n="69" d="100"/>
          <a:sy n="69" d="100"/>
        </p:scale>
        <p:origin x="540"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customschemas.google.com/relationships/presentationmetadata" Target="metadata"/><Relationship Id="rId2" Type="http://schemas.openxmlformats.org/officeDocument/2006/relationships/slide" Target="slides/slide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 name="Google Shape;87;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8" name="Google Shape;88;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9" name="Google Shape;99;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5" name="Google Shape;105;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1" name="Google Shape;111;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7" name="Google Shape;117;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3" name="Google Shape;123;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5" name="Google Shape;135;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1" name="Google Shape;141;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7" name="Google Shape;147;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3" name="Google Shape;153;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9" name="Google Shape;159;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Closing slide. Add the Google Form URL and a contact email before sharing. Edition 2 organising team for reference: Language AI - Sourabh Tiwari, Gaurav, Sanjeeth Pothireddy, Gorang Maniar; PRISM - Binny Lakra, Prakhar Chandrakar, Vishu Kumar; Kick-off and mentors - Giridhar Jakki, Deepraj Prabhakar Patkar (Language AI), Srimanu Prasad Nagaraju, Ashish Kumar (Tech Strategy).</a:t>
            </a:r>
            <a:endParaRPr/>
          </a:p>
        </p:txBody>
      </p:sp>
      <p:sp>
        <p:nvSpPr>
          <p:cNvPr id="160" name="Google Shape;160;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15"/>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6"/>
        <p:cNvGrpSpPr/>
        <p:nvPr/>
      </p:nvGrpSpPr>
      <p:grpSpPr>
        <a:xfrm>
          <a:off x="0" y="0"/>
          <a:ext cx="0" cy="0"/>
          <a:chOff x="0" y="0"/>
          <a:chExt cx="0" cy="0"/>
        </a:xfrm>
      </p:grpSpPr>
      <p:sp>
        <p:nvSpPr>
          <p:cNvPr id="17" name="Google Shape;17;p1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 name="Google Shape;18;p1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9" name="Google Shape;19;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2"/>
        <p:cNvGrpSpPr/>
        <p:nvPr/>
      </p:nvGrpSpPr>
      <p:grpSpPr>
        <a:xfrm>
          <a:off x="0" y="0"/>
          <a:ext cx="0" cy="0"/>
          <a:chOff x="0" y="0"/>
          <a:chExt cx="0" cy="0"/>
        </a:xfrm>
      </p:grpSpPr>
      <p:sp>
        <p:nvSpPr>
          <p:cNvPr id="23" name="Google Shape;23;p16"/>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 name="Google Shape;24;p16"/>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5" name="Google Shape;25;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8"/>
        <p:cNvGrpSpPr/>
        <p:nvPr/>
      </p:nvGrpSpPr>
      <p:grpSpPr>
        <a:xfrm>
          <a:off x="0" y="0"/>
          <a:ext cx="0" cy="0"/>
          <a:chOff x="0" y="0"/>
          <a:chExt cx="0" cy="0"/>
        </a:xfrm>
      </p:grpSpPr>
      <p:sp>
        <p:nvSpPr>
          <p:cNvPr id="29" name="Google Shape;29;p17"/>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 name="Google Shape;30;p17"/>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1" name="Google Shape;3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4"/>
        <p:cNvGrpSpPr/>
        <p:nvPr/>
      </p:nvGrpSpPr>
      <p:grpSpPr>
        <a:xfrm>
          <a:off x="0" y="0"/>
          <a:ext cx="0" cy="0"/>
          <a:chOff x="0" y="0"/>
          <a:chExt cx="0" cy="0"/>
        </a:xfrm>
      </p:grpSpPr>
      <p:sp>
        <p:nvSpPr>
          <p:cNvPr id="35" name="Google Shape;35;p1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6" name="Google Shape;36;p18"/>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18"/>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8" name="Google Shape;38;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 name="Google Shape;40;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1"/>
        <p:cNvGrpSpPr/>
        <p:nvPr/>
      </p:nvGrpSpPr>
      <p:grpSpPr>
        <a:xfrm>
          <a:off x="0" y="0"/>
          <a:ext cx="0" cy="0"/>
          <a:chOff x="0" y="0"/>
          <a:chExt cx="0" cy="0"/>
        </a:xfrm>
      </p:grpSpPr>
      <p:sp>
        <p:nvSpPr>
          <p:cNvPr id="42" name="Google Shape;42;p19"/>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3" name="Google Shape;43;p19"/>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4" name="Google Shape;44;p19"/>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5" name="Google Shape;45;p19"/>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6" name="Google Shape;46;p19"/>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7" name="Google Shape;47;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0"/>
        <p:cNvGrpSpPr/>
        <p:nvPr/>
      </p:nvGrpSpPr>
      <p:grpSpPr>
        <a:xfrm>
          <a:off x="0" y="0"/>
          <a:ext cx="0" cy="0"/>
          <a:chOff x="0" y="0"/>
          <a:chExt cx="0" cy="0"/>
        </a:xfrm>
      </p:grpSpPr>
      <p:sp>
        <p:nvSpPr>
          <p:cNvPr id="51" name="Google Shape;51;p2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2" name="Google Shape;52;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 name="Google Shape;54;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5"/>
        <p:cNvGrpSpPr/>
        <p:nvPr/>
      </p:nvGrpSpPr>
      <p:grpSpPr>
        <a:xfrm>
          <a:off x="0" y="0"/>
          <a:ext cx="0" cy="0"/>
          <a:chOff x="0" y="0"/>
          <a:chExt cx="0" cy="0"/>
        </a:xfrm>
      </p:grpSpPr>
      <p:sp>
        <p:nvSpPr>
          <p:cNvPr id="56" name="Google Shape;56;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9"/>
        <p:cNvGrpSpPr/>
        <p:nvPr/>
      </p:nvGrpSpPr>
      <p:grpSpPr>
        <a:xfrm>
          <a:off x="0" y="0"/>
          <a:ext cx="0" cy="0"/>
          <a:chOff x="0" y="0"/>
          <a:chExt cx="0" cy="0"/>
        </a:xfrm>
      </p:grpSpPr>
      <p:sp>
        <p:nvSpPr>
          <p:cNvPr id="60" name="Google Shape;60;p2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1" name="Google Shape;61;p22"/>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2" name="Google Shape;62;p22"/>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3" name="Google Shape;63;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6"/>
        <p:cNvGrpSpPr/>
        <p:nvPr/>
      </p:nvGrpSpPr>
      <p:grpSpPr>
        <a:xfrm>
          <a:off x="0" y="0"/>
          <a:ext cx="0" cy="0"/>
          <a:chOff x="0" y="0"/>
          <a:chExt cx="0" cy="0"/>
        </a:xfrm>
      </p:grpSpPr>
      <p:sp>
        <p:nvSpPr>
          <p:cNvPr id="67" name="Google Shape;67;p2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8" name="Google Shape;68;p23"/>
          <p:cNvSpPr>
            <a:spLocks noGrp="1"/>
          </p:cNvSpPr>
          <p:nvPr>
            <p:ph type="pic" idx="2"/>
          </p:nvPr>
        </p:nvSpPr>
        <p:spPr>
          <a:xfrm>
            <a:off x="5183188" y="987425"/>
            <a:ext cx="6172200" cy="4873625"/>
          </a:xfrm>
          <a:prstGeom prst="rect">
            <a:avLst/>
          </a:prstGeom>
          <a:noFill/>
          <a:ln>
            <a:noFill/>
          </a:ln>
        </p:spPr>
      </p:sp>
      <p:sp>
        <p:nvSpPr>
          <p:cNvPr id="69" name="Google Shape;69;p23"/>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0" name="Google Shape;7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3"/>
        <p:cNvGrpSpPr/>
        <p:nvPr/>
      </p:nvGrpSpPr>
      <p:grpSpPr>
        <a:xfrm>
          <a:off x="0" y="0"/>
          <a:ext cx="0" cy="0"/>
          <a:chOff x="0" y="0"/>
          <a:chExt cx="0" cy="0"/>
        </a:xfrm>
      </p:grpSpPr>
      <p:sp>
        <p:nvSpPr>
          <p:cNvPr id="74" name="Google Shape;74;p2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5" name="Google Shape;75;p24"/>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6" name="Google Shape;7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9"/>
        <p:cNvGrpSpPr/>
        <p:nvPr/>
      </p:nvGrpSpPr>
      <p:grpSpPr>
        <a:xfrm>
          <a:off x="0" y="0"/>
          <a:ext cx="0" cy="0"/>
          <a:chOff x="0" y="0"/>
          <a:chExt cx="0" cy="0"/>
        </a:xfrm>
      </p:grpSpPr>
      <p:sp>
        <p:nvSpPr>
          <p:cNvPr id="80" name="Google Shape;80;p25"/>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1" name="Google Shape;81;p25"/>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2" name="Google Shape;82;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
          <p:cNvSpPr/>
          <p:nvPr/>
        </p:nvSpPr>
        <p:spPr>
          <a:xfrm>
            <a:off x="777240" y="676656"/>
            <a:ext cx="2423160" cy="347472"/>
          </a:xfrm>
          <a:prstGeom prst="roundRect">
            <a:avLst>
              <a:gd name="adj" fmla="val 50000"/>
            </a:avLst>
          </a:prstGeom>
          <a:solidFill>
            <a:srgbClr val="FFFFFF"/>
          </a:solidFill>
          <a:ln w="12700" cap="flat" cmpd="sng">
            <a:solidFill>
              <a:srgbClr val="D9D3F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1"/>
          <p:cNvSpPr txBox="1"/>
          <p:nvPr/>
        </p:nvSpPr>
        <p:spPr>
          <a:xfrm>
            <a:off x="777240" y="676656"/>
            <a:ext cx="2423160" cy="34747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6D28D9"/>
              </a:buClr>
              <a:buSzPts val="1100"/>
              <a:buFont typeface="Arial"/>
              <a:buNone/>
            </a:pPr>
            <a:r>
              <a:rPr lang="en-US" sz="1100" b="1" i="0" u="none" strike="noStrike" cap="none">
                <a:solidFill>
                  <a:srgbClr val="6D28D9"/>
                </a:solidFill>
                <a:latin typeface="Arial"/>
                <a:ea typeface="Arial"/>
                <a:cs typeface="Arial"/>
                <a:sym typeface="Arial"/>
              </a:rPr>
              <a:t>SAMSUNG PRISM</a:t>
            </a:r>
            <a:endParaRPr sz="1100" b="0" i="0" u="none" strike="noStrike" cap="none">
              <a:solidFill>
                <a:schemeClr val="dk1"/>
              </a:solidFill>
              <a:latin typeface="Calibri"/>
              <a:ea typeface="Calibri"/>
              <a:cs typeface="Calibri"/>
              <a:sym typeface="Calibri"/>
            </a:endParaRPr>
          </a:p>
        </p:txBody>
      </p:sp>
      <p:sp>
        <p:nvSpPr>
          <p:cNvPr id="92" name="Google Shape;92;p1"/>
          <p:cNvSpPr txBox="1"/>
          <p:nvPr/>
        </p:nvSpPr>
        <p:spPr>
          <a:xfrm>
            <a:off x="777240" y="1207008"/>
            <a:ext cx="6126480" cy="7498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4142B"/>
              </a:buClr>
              <a:buSzPts val="5000"/>
              <a:buFont typeface="Arial"/>
              <a:buNone/>
            </a:pPr>
            <a:r>
              <a:rPr lang="en-US" sz="5000" b="1" i="0" u="none" strike="noStrike" cap="none">
                <a:solidFill>
                  <a:srgbClr val="14142B"/>
                </a:solidFill>
                <a:latin typeface="Arial"/>
                <a:ea typeface="Arial"/>
                <a:cs typeface="Arial"/>
                <a:sym typeface="Arial"/>
              </a:rPr>
              <a:t>Generative AI</a:t>
            </a:r>
            <a:endParaRPr sz="5000" b="0" i="0" u="none" strike="noStrike" cap="none">
              <a:solidFill>
                <a:schemeClr val="dk1"/>
              </a:solidFill>
              <a:latin typeface="Calibri"/>
              <a:ea typeface="Calibri"/>
              <a:cs typeface="Calibri"/>
              <a:sym typeface="Calibri"/>
            </a:endParaRPr>
          </a:p>
        </p:txBody>
      </p:sp>
      <p:sp>
        <p:nvSpPr>
          <p:cNvPr id="93" name="Google Shape;93;p1"/>
          <p:cNvSpPr txBox="1"/>
          <p:nvPr/>
        </p:nvSpPr>
        <p:spPr>
          <a:xfrm>
            <a:off x="777240" y="1901952"/>
            <a:ext cx="6126480" cy="7498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D28D9"/>
              </a:buClr>
              <a:buSzPts val="5000"/>
              <a:buFont typeface="Arial"/>
              <a:buNone/>
            </a:pPr>
            <a:r>
              <a:rPr lang="en-US" sz="5000" b="1" i="0" u="none" strike="noStrike" cap="none">
                <a:solidFill>
                  <a:srgbClr val="6D28D9"/>
                </a:solidFill>
                <a:latin typeface="Arial"/>
                <a:ea typeface="Arial"/>
                <a:cs typeface="Arial"/>
                <a:sym typeface="Arial"/>
              </a:rPr>
              <a:t>Hackathon</a:t>
            </a:r>
            <a:endParaRPr sz="5000" b="0" i="0" u="none" strike="noStrike" cap="none">
              <a:solidFill>
                <a:schemeClr val="dk1"/>
              </a:solidFill>
              <a:latin typeface="Calibri"/>
              <a:ea typeface="Calibri"/>
              <a:cs typeface="Calibri"/>
              <a:sym typeface="Calibri"/>
            </a:endParaRPr>
          </a:p>
        </p:txBody>
      </p:sp>
      <p:sp>
        <p:nvSpPr>
          <p:cNvPr id="94" name="Google Shape;94;p1"/>
          <p:cNvSpPr txBox="1"/>
          <p:nvPr/>
        </p:nvSpPr>
        <p:spPr>
          <a:xfrm>
            <a:off x="777240" y="2724912"/>
            <a:ext cx="612648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4142B"/>
              </a:buClr>
              <a:buSzPts val="2500"/>
              <a:buFont typeface="Arial"/>
              <a:buNone/>
            </a:pPr>
            <a:r>
              <a:rPr lang="en-US" sz="2500" b="1" i="0" u="none" strike="noStrike" cap="none">
                <a:solidFill>
                  <a:srgbClr val="14142B"/>
                </a:solidFill>
                <a:latin typeface="Arial"/>
                <a:ea typeface="Arial"/>
                <a:cs typeface="Arial"/>
                <a:sym typeface="Arial"/>
              </a:rPr>
              <a:t>3rd Edition</a:t>
            </a:r>
            <a:r>
              <a:rPr lang="en-US" sz="2000" b="0" i="0" u="none" strike="noStrike" cap="none">
                <a:solidFill>
                  <a:srgbClr val="63637E"/>
                </a:solidFill>
                <a:latin typeface="Calibri"/>
                <a:ea typeface="Calibri"/>
                <a:cs typeface="Calibri"/>
                <a:sym typeface="Calibri"/>
              </a:rPr>
              <a:t>   2026 – 27</a:t>
            </a:r>
            <a:endParaRPr sz="2500" b="0" i="0" u="none" strike="noStrike" cap="none">
              <a:solidFill>
                <a:schemeClr val="dk1"/>
              </a:solidFill>
              <a:latin typeface="Calibri"/>
              <a:ea typeface="Calibri"/>
              <a:cs typeface="Calibri"/>
              <a:sym typeface="Calibri"/>
            </a:endParaRPr>
          </a:p>
        </p:txBody>
      </p:sp>
      <p:sp>
        <p:nvSpPr>
          <p:cNvPr id="95" name="Google Shape;95;p1"/>
          <p:cNvSpPr txBox="1"/>
          <p:nvPr/>
        </p:nvSpPr>
        <p:spPr>
          <a:xfrm>
            <a:off x="777240" y="3310128"/>
            <a:ext cx="5852160" cy="777240"/>
          </a:xfrm>
          <a:prstGeom prst="rect">
            <a:avLst/>
          </a:prstGeom>
          <a:noFill/>
          <a:ln>
            <a:noFill/>
          </a:ln>
        </p:spPr>
        <p:txBody>
          <a:bodyPr spcFirstLastPara="1" wrap="square" lIns="0" tIns="0" rIns="0" bIns="0" anchor="t" anchorCtr="0">
            <a:noAutofit/>
          </a:bodyPr>
          <a:lstStyle/>
          <a:p>
            <a:pPr marL="177800" marR="0" lvl="0" indent="-177800" algn="l" rtl="0">
              <a:spcBef>
                <a:spcPts val="0"/>
              </a:spcBef>
              <a:spcAft>
                <a:spcPts val="0"/>
              </a:spcAft>
              <a:buClr>
                <a:srgbClr val="63637E"/>
              </a:buClr>
              <a:buSzPts val="1600"/>
              <a:buFont typeface="Calibri"/>
              <a:buChar char="•"/>
            </a:pPr>
            <a:r>
              <a:rPr lang="en-US" sz="1600" b="0" i="0" u="none" strike="noStrike" cap="none" dirty="0">
                <a:solidFill>
                  <a:srgbClr val="63637E"/>
                </a:solidFill>
                <a:latin typeface="Calibri"/>
                <a:ea typeface="Calibri"/>
                <a:cs typeface="Calibri"/>
                <a:sym typeface="Calibri"/>
              </a:rPr>
              <a:t>Theme ID – Theme 05</a:t>
            </a:r>
            <a:endParaRPr dirty="0"/>
          </a:p>
          <a:p>
            <a:pPr marL="177800" marR="0" lvl="0" indent="-177800" algn="l" rtl="0">
              <a:spcBef>
                <a:spcPts val="500"/>
              </a:spcBef>
              <a:spcAft>
                <a:spcPts val="0"/>
              </a:spcAft>
              <a:buClr>
                <a:srgbClr val="63637E"/>
              </a:buClr>
              <a:buSzPts val="1600"/>
              <a:buFont typeface="Calibri"/>
              <a:buChar char="•"/>
            </a:pPr>
            <a:r>
              <a:rPr lang="en-US" sz="1600" b="0" i="0" u="none" strike="noStrike" cap="none" dirty="0">
                <a:solidFill>
                  <a:srgbClr val="63637E"/>
                </a:solidFill>
                <a:latin typeface="Calibri"/>
                <a:ea typeface="Calibri"/>
                <a:cs typeface="Calibri"/>
                <a:sym typeface="Calibri"/>
              </a:rPr>
              <a:t>Team Name – Agents 007</a:t>
            </a:r>
            <a:endParaRPr dirty="0"/>
          </a:p>
          <a:p>
            <a:pPr marL="177800" marR="0" lvl="0" indent="-177800" algn="l" rtl="0">
              <a:spcBef>
                <a:spcPts val="500"/>
              </a:spcBef>
              <a:spcAft>
                <a:spcPts val="0"/>
              </a:spcAft>
              <a:buClr>
                <a:srgbClr val="63637E"/>
              </a:buClr>
              <a:buSzPts val="1600"/>
              <a:buFont typeface="Calibri"/>
              <a:buChar char="•"/>
            </a:pPr>
            <a:r>
              <a:rPr lang="en-US" sz="1600" b="0" i="0" u="none" strike="noStrike" cap="none" dirty="0">
                <a:solidFill>
                  <a:srgbClr val="63637E"/>
                </a:solidFill>
                <a:latin typeface="Calibri"/>
                <a:ea typeface="Calibri"/>
                <a:cs typeface="Calibri"/>
                <a:sym typeface="Calibri"/>
              </a:rPr>
              <a:t>College Name – VIT Vellore</a:t>
            </a:r>
            <a:endParaRPr dirty="0"/>
          </a:p>
          <a:p>
            <a:pPr marL="177800" marR="0" lvl="0" indent="-177800" algn="l" rtl="0">
              <a:spcBef>
                <a:spcPts val="500"/>
              </a:spcBef>
              <a:spcAft>
                <a:spcPts val="0"/>
              </a:spcAft>
              <a:buClr>
                <a:srgbClr val="63637E"/>
              </a:buClr>
              <a:buSzPts val="1600"/>
              <a:buFont typeface="Calibri"/>
              <a:buChar char="•"/>
            </a:pPr>
            <a:r>
              <a:rPr lang="en-US" sz="1600" b="0" i="0" u="none" strike="noStrike" cap="none" dirty="0">
                <a:solidFill>
                  <a:srgbClr val="63637E"/>
                </a:solidFill>
                <a:latin typeface="Calibri"/>
                <a:ea typeface="Calibri"/>
                <a:cs typeface="Calibri"/>
                <a:sym typeface="Calibri"/>
              </a:rPr>
              <a:t>Member Name &amp; Email 1- </a:t>
            </a:r>
            <a:r>
              <a:rPr lang="en-US" sz="1600" b="0" i="0" u="none" strike="noStrike" cap="none" dirty="0" err="1">
                <a:solidFill>
                  <a:srgbClr val="63637E"/>
                </a:solidFill>
                <a:latin typeface="Calibri"/>
                <a:ea typeface="Calibri"/>
                <a:cs typeface="Calibri"/>
                <a:sym typeface="Calibri"/>
              </a:rPr>
              <a:t>Dhayapule</a:t>
            </a:r>
            <a:r>
              <a:rPr lang="en-US" sz="1600" b="0" i="0" u="none" strike="noStrike" cap="none" dirty="0">
                <a:solidFill>
                  <a:srgbClr val="63637E"/>
                </a:solidFill>
                <a:latin typeface="Calibri"/>
                <a:ea typeface="Calibri"/>
                <a:cs typeface="Calibri"/>
                <a:sym typeface="Calibri"/>
              </a:rPr>
              <a:t> </a:t>
            </a:r>
            <a:r>
              <a:rPr lang="en-US" sz="1600" b="0" i="0" u="none" strike="noStrike" cap="none" dirty="0" err="1">
                <a:solidFill>
                  <a:srgbClr val="63637E"/>
                </a:solidFill>
                <a:latin typeface="Calibri"/>
                <a:ea typeface="Calibri"/>
                <a:cs typeface="Calibri"/>
                <a:sym typeface="Calibri"/>
              </a:rPr>
              <a:t>Kartikesh</a:t>
            </a:r>
            <a:r>
              <a:rPr lang="en-US" sz="1600" b="0" i="0" u="none" strike="noStrike" cap="none" dirty="0">
                <a:solidFill>
                  <a:srgbClr val="63637E"/>
                </a:solidFill>
                <a:latin typeface="Calibri"/>
                <a:ea typeface="Calibri"/>
                <a:cs typeface="Calibri"/>
                <a:sym typeface="Calibri"/>
              </a:rPr>
              <a:t> Rao dhayapule.kartikesh2024@vitstudent.ac.in </a:t>
            </a:r>
            <a:endParaRPr dirty="0"/>
          </a:p>
          <a:p>
            <a:pPr marL="177800" lvl="0" indent="-177800">
              <a:spcBef>
                <a:spcPts val="500"/>
              </a:spcBef>
              <a:buClr>
                <a:srgbClr val="63637E"/>
              </a:buClr>
              <a:buSzPts val="1600"/>
              <a:buFont typeface="Calibri"/>
              <a:buChar char="•"/>
            </a:pPr>
            <a:r>
              <a:rPr lang="en-US" sz="1600" b="0" i="0" u="none" strike="noStrike" cap="none" dirty="0">
                <a:solidFill>
                  <a:srgbClr val="63637E"/>
                </a:solidFill>
                <a:latin typeface="Calibri"/>
                <a:ea typeface="Calibri"/>
                <a:cs typeface="Calibri"/>
                <a:sym typeface="Calibri"/>
              </a:rPr>
              <a:t>Member Name &amp; Email 2-  </a:t>
            </a:r>
            <a:r>
              <a:rPr lang="fi-FI" sz="1600" dirty="0">
                <a:solidFill>
                  <a:srgbClr val="63637E"/>
                </a:solidFill>
                <a:latin typeface="Calibri"/>
                <a:ea typeface="Calibri"/>
                <a:cs typeface="Calibri"/>
                <a:sym typeface="Calibri"/>
              </a:rPr>
              <a:t>Metta Venkata Surya Sai Srikar metta.venkata2024@vitstudent.ac.in</a:t>
            </a:r>
            <a:endParaRPr dirty="0"/>
          </a:p>
          <a:p>
            <a:pPr marL="177800" marR="0" lvl="0" indent="-177800" algn="l" rtl="0">
              <a:spcBef>
                <a:spcPts val="500"/>
              </a:spcBef>
              <a:spcAft>
                <a:spcPts val="0"/>
              </a:spcAft>
              <a:buClr>
                <a:srgbClr val="63637E"/>
              </a:buClr>
              <a:buSzPts val="1600"/>
              <a:buFont typeface="Calibri"/>
              <a:buChar char="•"/>
            </a:pPr>
            <a:r>
              <a:rPr lang="en-US" sz="1600" b="0" i="0" u="none" strike="noStrike" cap="none" dirty="0">
                <a:solidFill>
                  <a:srgbClr val="63637E"/>
                </a:solidFill>
                <a:latin typeface="Calibri"/>
                <a:ea typeface="Calibri"/>
                <a:cs typeface="Calibri"/>
                <a:sym typeface="Calibri"/>
              </a:rPr>
              <a:t>Member Name &amp; Email 3-  Venkataramana Akshith </a:t>
            </a:r>
            <a:r>
              <a:rPr lang="en-US" sz="1600" dirty="0">
                <a:solidFill>
                  <a:srgbClr val="63637E"/>
                </a:solidFill>
                <a:latin typeface="Calibri"/>
                <a:ea typeface="Calibri"/>
                <a:cs typeface="Calibri"/>
                <a:sym typeface="Calibri"/>
              </a:rPr>
              <a:t>v</a:t>
            </a:r>
            <a:r>
              <a:rPr lang="en-US" sz="1600" b="0" i="0" u="none" strike="noStrike" cap="none" dirty="0">
                <a:solidFill>
                  <a:srgbClr val="63637E"/>
                </a:solidFill>
                <a:latin typeface="Calibri"/>
                <a:ea typeface="Calibri"/>
                <a:cs typeface="Calibri"/>
                <a:sym typeface="Calibri"/>
              </a:rPr>
              <a:t>enkataramana.2024@vitstudent.ac.in</a:t>
            </a:r>
            <a:endParaRPr dirty="0"/>
          </a:p>
          <a:p>
            <a:pPr marL="177800" lvl="0" indent="-177800">
              <a:spcBef>
                <a:spcPts val="500"/>
              </a:spcBef>
              <a:buClr>
                <a:srgbClr val="63637E"/>
              </a:buClr>
              <a:buSzPts val="1600"/>
              <a:buFont typeface="Calibri"/>
              <a:buChar char="•"/>
            </a:pPr>
            <a:r>
              <a:rPr lang="en-US" sz="1600" b="0" i="0" u="none" strike="noStrike" cap="none" dirty="0">
                <a:solidFill>
                  <a:srgbClr val="63637E"/>
                </a:solidFill>
                <a:latin typeface="Calibri"/>
                <a:ea typeface="Calibri"/>
                <a:cs typeface="Calibri"/>
                <a:sym typeface="Calibri"/>
              </a:rPr>
              <a:t>Submission </a:t>
            </a:r>
            <a:r>
              <a:rPr lang="en-US" sz="1600" b="0" i="0" u="none" strike="noStrike" cap="none" dirty="0" err="1">
                <a:solidFill>
                  <a:srgbClr val="63637E"/>
                </a:solidFill>
                <a:latin typeface="Calibri"/>
                <a:ea typeface="Calibri"/>
                <a:cs typeface="Calibri"/>
                <a:sym typeface="Calibri"/>
              </a:rPr>
              <a:t>Github</a:t>
            </a:r>
            <a:r>
              <a:rPr lang="en-US" sz="1600" b="0" i="0" u="none" strike="noStrike" cap="none" dirty="0">
                <a:solidFill>
                  <a:srgbClr val="63637E"/>
                </a:solidFill>
                <a:latin typeface="Calibri"/>
                <a:ea typeface="Calibri"/>
                <a:cs typeface="Calibri"/>
                <a:sym typeface="Calibri"/>
              </a:rPr>
              <a:t> link - </a:t>
            </a:r>
            <a:r>
              <a:rPr lang="en-US" sz="1600" dirty="0">
                <a:solidFill>
                  <a:srgbClr val="63637E"/>
                </a:solidFill>
                <a:latin typeface="Calibri"/>
                <a:ea typeface="Calibri"/>
                <a:cs typeface="Calibri"/>
                <a:sym typeface="Calibri"/>
              </a:rPr>
              <a:t>https://github.com/srikarmetta/MindSpace</a:t>
            </a:r>
            <a:endParaRPr dirty="0"/>
          </a:p>
          <a:p>
            <a:pPr marL="177800" marR="0" lvl="0" indent="-76200" algn="l" rtl="0">
              <a:spcBef>
                <a:spcPts val="500"/>
              </a:spcBef>
              <a:spcAft>
                <a:spcPts val="0"/>
              </a:spcAft>
              <a:buClr>
                <a:schemeClr val="dk1"/>
              </a:buClr>
              <a:buSzPts val="1600"/>
              <a:buFont typeface="Calibri"/>
              <a:buNone/>
            </a:pPr>
            <a:endParaRPr sz="1600" b="0" i="0" u="none" strike="noStrike" cap="none" dirty="0">
              <a:solidFill>
                <a:srgbClr val="63637E"/>
              </a:solidFill>
              <a:latin typeface="Calibri"/>
              <a:ea typeface="Calibri"/>
              <a:cs typeface="Calibri"/>
              <a:sym typeface="Calibri"/>
            </a:endParaRPr>
          </a:p>
        </p:txBody>
      </p:sp>
      <p:pic>
        <p:nvPicPr>
          <p:cNvPr id="96" name="Google Shape;96;p1" descr="hero_network.png"/>
          <p:cNvPicPr preferRelativeResize="0"/>
          <p:nvPr/>
        </p:nvPicPr>
        <p:blipFill rotWithShape="1">
          <a:blip r:embed="rId3">
            <a:alphaModFix/>
          </a:blip>
          <a:srcRect/>
          <a:stretch/>
        </p:blipFill>
        <p:spPr>
          <a:xfrm>
            <a:off x="7059168" y="1051560"/>
            <a:ext cx="4572000" cy="45720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704EA6"/>
              </a:buClr>
              <a:buSzPts val="4400"/>
              <a:buFont typeface="Calibri"/>
              <a:buNone/>
            </a:pPr>
            <a:r>
              <a:rPr lang="en-US" b="1" dirty="0">
                <a:solidFill>
                  <a:srgbClr val="704EA6"/>
                </a:solidFill>
                <a:latin typeface="Calibri"/>
                <a:ea typeface="Calibri"/>
                <a:cs typeface="Calibri"/>
                <a:sym typeface="Calibri"/>
              </a:rPr>
              <a:t>Theme</a:t>
            </a:r>
            <a:endParaRPr dirty="0"/>
          </a:p>
        </p:txBody>
      </p:sp>
      <p:sp>
        <p:nvSpPr>
          <p:cNvPr id="102" name="Google Shape;102;p2"/>
          <p:cNvSpPr txBox="1">
            <a:spLocks noGrp="1"/>
          </p:cNvSpPr>
          <p:nvPr>
            <p:ph type="body" idx="1"/>
          </p:nvPr>
        </p:nvSpPr>
        <p:spPr>
          <a:xfrm>
            <a:off x="755904" y="1578737"/>
            <a:ext cx="10515600" cy="4351338"/>
          </a:xfrm>
          <a:prstGeom prst="rect">
            <a:avLst/>
          </a:prstGeom>
          <a:noFill/>
          <a:ln>
            <a:noFill/>
          </a:ln>
        </p:spPr>
        <p:txBody>
          <a:bodyPr spcFirstLastPara="1" wrap="square" lIns="91425" tIns="45700" rIns="91425" bIns="45700" anchor="t" anchorCtr="0">
            <a:normAutofit fontScale="92500" lnSpcReduction="10000"/>
          </a:bodyPr>
          <a:lstStyle/>
          <a:p>
            <a:pPr marL="228600" lvl="0" indent="-50800" algn="just">
              <a:spcBef>
                <a:spcPts val="0"/>
              </a:spcBef>
              <a:buSzPts val="2800"/>
              <a:buNone/>
            </a:pPr>
            <a:r>
              <a:rPr lang="en-IN" b="1" dirty="0" err="1"/>
              <a:t>MindSpace</a:t>
            </a:r>
            <a:r>
              <a:rPr lang="en-IN" b="1" dirty="0"/>
              <a:t> </a:t>
            </a:r>
            <a:r>
              <a:rPr lang="en-IN" dirty="0"/>
              <a:t>directly addresses Theme 05: Interruptible Real-Time Agents by enabling an AI system architect that can listen, reason, execute, and adapt continuously as user requirements evolve. Instead of treating each request as an isolated interaction, </a:t>
            </a:r>
            <a:r>
              <a:rPr lang="en-IN" dirty="0" err="1"/>
              <a:t>MindSpace</a:t>
            </a:r>
            <a:r>
              <a:rPr lang="en-IN" dirty="0"/>
              <a:t> maintains the current architecture as live state while performing operations asynchronously in the background. When a user interrupts with a correction or new requirement, the system detects the updated intent, cancels or supersedes stale operations, preserves valid work, and replans the affected architecture without restarting from scratch. This creates a continuous </a:t>
            </a:r>
          </a:p>
          <a:p>
            <a:pPr marL="228600" lvl="0" indent="-50800" algn="just">
              <a:spcBef>
                <a:spcPts val="0"/>
              </a:spcBef>
              <a:buSzPts val="2800"/>
              <a:buNone/>
            </a:pPr>
            <a:r>
              <a:rPr lang="en-IN" b="1" dirty="0"/>
              <a:t>	Listen → Understand → Plan → Execute → Interrupt → Replan → Commit</a:t>
            </a:r>
            <a:r>
              <a:rPr lang="en-IN" dirty="0"/>
              <a:t> loop, demonstrated through both voice interaction and a live architecture graph.</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704EA6"/>
              </a:buClr>
              <a:buSzPts val="4400"/>
              <a:buFont typeface="Calibri"/>
              <a:buNone/>
            </a:pPr>
            <a:r>
              <a:rPr lang="en-US" b="1" dirty="0">
                <a:solidFill>
                  <a:srgbClr val="704EA6"/>
                </a:solidFill>
                <a:latin typeface="Calibri"/>
                <a:ea typeface="Calibri"/>
                <a:cs typeface="Calibri"/>
                <a:sym typeface="Calibri"/>
              </a:rPr>
              <a:t>Existing Solutions &amp; Gaps</a:t>
            </a:r>
            <a:endParaRPr dirty="0"/>
          </a:p>
        </p:txBody>
      </p:sp>
      <p:sp>
        <p:nvSpPr>
          <p:cNvPr id="108" name="Google Shape;108;p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fontScale="92500" lnSpcReduction="10000"/>
          </a:bodyPr>
          <a:lstStyle/>
          <a:p>
            <a:pPr marL="228600" lvl="0" indent="-50800">
              <a:spcBef>
                <a:spcPts val="0"/>
              </a:spcBef>
              <a:buSzPts val="2800"/>
              <a:buNone/>
            </a:pPr>
            <a:r>
              <a:rPr lang="en-IN" dirty="0"/>
              <a:t>Existing AI assistants such as ChatGPT and Claude can understand system requirements and generate architecture suggestions, while conventional architecture and diagramming tools provide static visual representations. However, these approaches are primarily turn-based and do not maintain an actively executing architecture that can be safely modified mid-process. Interruptions or changing requirements often require restarting the generation process, with limited handling of stale operations, partial progress, or dependency-aware updates. </a:t>
            </a:r>
            <a:r>
              <a:rPr lang="en-IN" b="1" dirty="0" err="1"/>
              <a:t>MindSpace</a:t>
            </a:r>
            <a:r>
              <a:rPr lang="en-IN" b="1" dirty="0"/>
              <a:t> </a:t>
            </a:r>
            <a:r>
              <a:rPr lang="en-IN" dirty="0"/>
              <a:t>bridges this gap by </a:t>
            </a:r>
            <a:r>
              <a:rPr lang="en-IN" b="1" dirty="0"/>
              <a:t>combining voice-native interaction, asynchronous execution, live architecture visualization, intent tracking, cancellation, state preservation, and automatic replanning—</a:t>
            </a:r>
            <a:r>
              <a:rPr lang="en-IN" dirty="0"/>
              <a:t>allowing users to continuously evolve a system architecture simply by thinking out loud.</a:t>
            </a: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12"/>
        <p:cNvGrpSpPr/>
        <p:nvPr/>
      </p:nvGrpSpPr>
      <p:grpSpPr>
        <a:xfrm>
          <a:off x="0" y="0"/>
          <a:ext cx="0" cy="0"/>
          <a:chOff x="0" y="0"/>
          <a:chExt cx="0" cy="0"/>
        </a:xfrm>
      </p:grpSpPr>
      <p:sp>
        <p:nvSpPr>
          <p:cNvPr id="113" name="Google Shape;113;p4"/>
          <p:cNvSpPr txBox="1">
            <a:spLocks noGrp="1"/>
          </p:cNvSpPr>
          <p:nvPr>
            <p:ph type="title"/>
          </p:nvPr>
        </p:nvSpPr>
        <p:spPr>
          <a:xfrm>
            <a:off x="909917" y="266513"/>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704EA6"/>
              </a:buClr>
              <a:buSzPts val="4400"/>
              <a:buFont typeface="Calibri"/>
              <a:buNone/>
            </a:pPr>
            <a:r>
              <a:rPr lang="en-US" b="1" dirty="0">
                <a:solidFill>
                  <a:srgbClr val="704EA6"/>
                </a:solidFill>
                <a:latin typeface="Calibri"/>
                <a:ea typeface="Calibri"/>
                <a:cs typeface="Calibri"/>
                <a:sym typeface="Calibri"/>
              </a:rPr>
              <a:t>Our Solutions &amp; Architecture Diagram</a:t>
            </a:r>
            <a:endParaRPr dirty="0"/>
          </a:p>
        </p:txBody>
      </p:sp>
      <p:sp>
        <p:nvSpPr>
          <p:cNvPr id="114" name="Google Shape;114;p4"/>
          <p:cNvSpPr txBox="1">
            <a:spLocks noGrp="1"/>
          </p:cNvSpPr>
          <p:nvPr>
            <p:ph type="body" idx="1"/>
          </p:nvPr>
        </p:nvSpPr>
        <p:spPr>
          <a:xfrm>
            <a:off x="582168" y="1592076"/>
            <a:ext cx="5114544" cy="4351338"/>
          </a:xfrm>
          <a:prstGeom prst="rect">
            <a:avLst/>
          </a:prstGeom>
          <a:noFill/>
          <a:ln>
            <a:noFill/>
          </a:ln>
        </p:spPr>
        <p:txBody>
          <a:bodyPr spcFirstLastPara="1" wrap="square" lIns="91425" tIns="45700" rIns="91425" bIns="45700" anchor="t" anchorCtr="0">
            <a:normAutofit/>
          </a:bodyPr>
          <a:lstStyle/>
          <a:p>
            <a:pPr marL="228600" lvl="0" indent="-50800">
              <a:spcBef>
                <a:spcPts val="0"/>
              </a:spcBef>
              <a:buSzPts val="2800"/>
              <a:buNone/>
            </a:pPr>
            <a:r>
              <a:rPr lang="en-IN" sz="2000" b="1" dirty="0" err="1"/>
              <a:t>MindSpace</a:t>
            </a:r>
            <a:r>
              <a:rPr lang="en-IN" sz="2000" dirty="0"/>
              <a:t> is a voice-driven, interruptible AI system architect that converts natural-language requirements into a continuously evolving architecture graph. The system interprets user intent, creates an execution plan, and performs graph operations asynchronously. When the user interrupts with a correction or new requirement, </a:t>
            </a:r>
            <a:r>
              <a:rPr lang="en-IN" sz="2000" dirty="0" err="1"/>
              <a:t>MindSpace</a:t>
            </a:r>
            <a:r>
              <a:rPr lang="en-IN" sz="2000" dirty="0"/>
              <a:t> identifies stale operations, cancels or supersedes them, preserves valid completed state, and replans the affected architecture before continuing execution. This enables a </a:t>
            </a:r>
            <a:r>
              <a:rPr lang="en-IN" sz="2000" b="1" dirty="0"/>
              <a:t>continuous, state-aware architecture design process</a:t>
            </a:r>
            <a:r>
              <a:rPr lang="en-IN" sz="2000" dirty="0"/>
              <a:t> rather than generating a static diagram in a single turn.</a:t>
            </a:r>
            <a:endParaRPr sz="2000" dirty="0"/>
          </a:p>
        </p:txBody>
      </p:sp>
      <p:pic>
        <p:nvPicPr>
          <p:cNvPr id="3" name="Picture 2">
            <a:extLst>
              <a:ext uri="{FF2B5EF4-FFF2-40B4-BE49-F238E27FC236}">
                <a16:creationId xmlns:a16="http://schemas.microsoft.com/office/drawing/2014/main" id="{95BD1CBD-30D3-E426-7F36-34A8865F1BC6}"/>
              </a:ext>
            </a:extLst>
          </p:cNvPr>
          <p:cNvPicPr>
            <a:picLocks noChangeAspect="1"/>
          </p:cNvPicPr>
          <p:nvPr/>
        </p:nvPicPr>
        <p:blipFill>
          <a:blip r:embed="rId3"/>
          <a:stretch>
            <a:fillRect/>
          </a:stretch>
        </p:blipFill>
        <p:spPr>
          <a:xfrm>
            <a:off x="5696712" y="1592076"/>
            <a:ext cx="6281649" cy="4187766"/>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704EA6"/>
              </a:buClr>
              <a:buSzPts val="4400"/>
              <a:buFont typeface="Calibri"/>
              <a:buNone/>
            </a:pPr>
            <a:r>
              <a:rPr lang="en-US" b="1" dirty="0">
                <a:solidFill>
                  <a:srgbClr val="704EA6"/>
                </a:solidFill>
                <a:latin typeface="Calibri"/>
                <a:ea typeface="Calibri"/>
                <a:cs typeface="Calibri"/>
                <a:sym typeface="Calibri"/>
              </a:rPr>
              <a:t>Demo &amp; Product Walkthrough</a:t>
            </a:r>
            <a:endParaRPr dirty="0"/>
          </a:p>
        </p:txBody>
      </p:sp>
      <p:sp>
        <p:nvSpPr>
          <p:cNvPr id="120" name="Google Shape;120;p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fontScale="92500" lnSpcReduction="10000"/>
          </a:bodyPr>
          <a:lstStyle/>
          <a:p>
            <a:pPr marL="228600" indent="-50800">
              <a:spcBef>
                <a:spcPts val="0"/>
              </a:spcBef>
              <a:buSzPts val="2800"/>
              <a:buNone/>
            </a:pPr>
            <a:r>
              <a:rPr lang="en-IN" dirty="0"/>
              <a:t>The walkthrough begins with the user describing a real-time social media platform and its required components. </a:t>
            </a:r>
            <a:r>
              <a:rPr lang="en-IN" dirty="0" err="1"/>
              <a:t>MindSpace</a:t>
            </a:r>
            <a:r>
              <a:rPr lang="en-IN" dirty="0"/>
              <a:t> interprets the requirement and progressively builds the architecture graph while operations execute asynchronously. During this process, the user specifies Kafka for asynchronous communication. Before the architecture is finalized, the user interrupts with a correction: “Actually, use RabbitMQ instead of Kafka.” </a:t>
            </a:r>
            <a:r>
              <a:rPr lang="en-IN" dirty="0" err="1"/>
              <a:t>MindSpace</a:t>
            </a:r>
            <a:r>
              <a:rPr lang="en-IN" dirty="0"/>
              <a:t> detects the change, cancels or supersedes the stale Kafka-related operations, preserves the valid components and relationships already created, and replans the affected portion of the architecture. The updated architecture then continues to completion with RabbitMQ as the message broker, demonstrating the complete cycle of </a:t>
            </a:r>
            <a:r>
              <a:rPr lang="en-IN" b="1" dirty="0"/>
              <a:t>Understand → Plan → Execute → Interrupt → Replan → Continue → Commit</a:t>
            </a:r>
            <a:r>
              <a:rPr lang="en-IN" dirty="0"/>
              <a:t>.</a:t>
            </a:r>
          </a:p>
          <a:p>
            <a:pPr marL="228600" lvl="0" indent="-50800" algn="l" rtl="0">
              <a:lnSpc>
                <a:spcPct val="90000"/>
              </a:lnSpc>
              <a:spcBef>
                <a:spcPts val="0"/>
              </a:spcBef>
              <a:spcAft>
                <a:spcPts val="0"/>
              </a:spcAft>
              <a:buClr>
                <a:schemeClr val="dk1"/>
              </a:buClr>
              <a:buSzPts val="2800"/>
              <a:buNone/>
            </a:pPr>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704EA6"/>
              </a:buClr>
              <a:buSzPts val="4400"/>
              <a:buFont typeface="Calibri"/>
              <a:buNone/>
            </a:pPr>
            <a:r>
              <a:rPr lang="en-US" sz="4400" b="1" dirty="0">
                <a:solidFill>
                  <a:srgbClr val="704EA6"/>
                </a:solidFill>
                <a:latin typeface="Calibri"/>
                <a:ea typeface="Calibri"/>
                <a:cs typeface="Calibri"/>
                <a:sym typeface="Calibri"/>
              </a:rPr>
              <a:t>Tools and tech stack used</a:t>
            </a:r>
            <a:endParaRPr b="1" dirty="0">
              <a:solidFill>
                <a:srgbClr val="704EA6"/>
              </a:solidFill>
            </a:endParaRPr>
          </a:p>
        </p:txBody>
      </p:sp>
      <p:sp>
        <p:nvSpPr>
          <p:cNvPr id="126" name="Google Shape;126;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fontScale="92500" lnSpcReduction="20000"/>
          </a:bodyPr>
          <a:lstStyle/>
          <a:p>
            <a:pPr marL="228600" indent="-50800">
              <a:spcBef>
                <a:spcPts val="0"/>
              </a:spcBef>
              <a:buSzPts val="2800"/>
              <a:buNone/>
            </a:pPr>
            <a:r>
              <a:rPr lang="en-IN" dirty="0" err="1"/>
              <a:t>MindSpace</a:t>
            </a:r>
            <a:r>
              <a:rPr lang="en-IN" dirty="0"/>
              <a:t> is built using a modern full-stack architecture focused on real-time interaction and interruptible execution. The frontend uses </a:t>
            </a:r>
            <a:r>
              <a:rPr lang="en-IN" b="1" dirty="0"/>
              <a:t>React, TypeScript, Vite, Tailwind CSS, </a:t>
            </a:r>
            <a:r>
              <a:rPr lang="en-IN" b="1" dirty="0" err="1"/>
              <a:t>Zustand</a:t>
            </a:r>
            <a:r>
              <a:rPr lang="en-IN" b="1" dirty="0"/>
              <a:t>, and React Flow (@xyflow/react)</a:t>
            </a:r>
            <a:r>
              <a:rPr lang="en-IN" dirty="0"/>
              <a:t> for the interactive architecture workspace and live graph visualization. </a:t>
            </a:r>
            <a:r>
              <a:rPr lang="en-IN" b="1" dirty="0" err="1"/>
              <a:t>LiveKit</a:t>
            </a:r>
            <a:r>
              <a:rPr lang="en-IN" dirty="0"/>
              <a:t> provides the real-time voice communication layer, while the agent runtime handles intent detection, planning, asynchronous execution, interruption, cancellation, and replanning. The backend and core logic use </a:t>
            </a:r>
            <a:r>
              <a:rPr lang="en-IN" b="1" dirty="0"/>
              <a:t>Node.js/TypeScript</a:t>
            </a:r>
            <a:r>
              <a:rPr lang="en-IN" dirty="0"/>
              <a:t>, with structured Architecture IR, graph operations, versioned state management, and idempotent execution. </a:t>
            </a:r>
            <a:r>
              <a:rPr lang="en-IN" b="1" dirty="0" err="1"/>
              <a:t>Lucide</a:t>
            </a:r>
            <a:r>
              <a:rPr lang="en-IN" b="1" dirty="0"/>
              <a:t> React</a:t>
            </a:r>
            <a:r>
              <a:rPr lang="en-IN" dirty="0"/>
              <a:t> is used for interface icons, with lightweight animation and layout utilities where required. </a:t>
            </a:r>
            <a:r>
              <a:rPr lang="en-IN" b="1" dirty="0"/>
              <a:t>Git and GitHub</a:t>
            </a:r>
            <a:r>
              <a:rPr lang="en-IN" dirty="0"/>
              <a:t> are used for version control and collaboration, while automated tests and build validation are used to verify graph operations, interruption handling, state preservation, and self-correction.</a:t>
            </a:r>
          </a:p>
          <a:p>
            <a:pPr marL="228600" lvl="0" indent="-50800" algn="l" rtl="0">
              <a:lnSpc>
                <a:spcPct val="90000"/>
              </a:lnSpc>
              <a:spcBef>
                <a:spcPts val="0"/>
              </a:spcBef>
              <a:spcAft>
                <a:spcPts val="0"/>
              </a:spcAft>
              <a:buClr>
                <a:schemeClr val="dk1"/>
              </a:buClr>
              <a:buSzPts val="2800"/>
              <a:buNone/>
            </a:pPr>
            <a:endParaRP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704EA6"/>
              </a:buClr>
              <a:buSzPts val="4400"/>
              <a:buFont typeface="Calibri"/>
              <a:buNone/>
            </a:pPr>
            <a:r>
              <a:rPr lang="en-US" sz="4400" b="1" dirty="0">
                <a:solidFill>
                  <a:srgbClr val="704EA6"/>
                </a:solidFill>
                <a:latin typeface="Calibri"/>
                <a:ea typeface="Calibri"/>
                <a:cs typeface="Calibri"/>
                <a:sym typeface="Calibri"/>
              </a:rPr>
              <a:t>Impact &amp; Use case</a:t>
            </a:r>
            <a:endParaRPr b="1" dirty="0">
              <a:solidFill>
                <a:srgbClr val="704EA6"/>
              </a:solidFill>
            </a:endParaRPr>
          </a:p>
        </p:txBody>
      </p:sp>
      <p:sp>
        <p:nvSpPr>
          <p:cNvPr id="132" name="Google Shape;132;p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fontScale="92500" lnSpcReduction="10000"/>
          </a:bodyPr>
          <a:lstStyle/>
          <a:p>
            <a:pPr marL="228600" indent="-50800">
              <a:spcBef>
                <a:spcPts val="0"/>
              </a:spcBef>
              <a:buSzPts val="2800"/>
              <a:buNone/>
            </a:pPr>
            <a:r>
              <a:rPr lang="en-IN" dirty="0" err="1"/>
              <a:t>MindSpace</a:t>
            </a:r>
            <a:r>
              <a:rPr lang="en-IN" dirty="0"/>
              <a:t> makes system architecture design more interactive, adaptive, and accessible by allowing users to describe and modify complex systems through natural voice or text. It is useful for </a:t>
            </a:r>
            <a:r>
              <a:rPr lang="en-IN" b="1" dirty="0"/>
              <a:t>software architects, developers, engineering teams, students, and product teams</a:t>
            </a:r>
            <a:r>
              <a:rPr lang="en-IN" dirty="0"/>
              <a:t> who frequently explore evolving system requirements. Instead of repeatedly rebuilding architecture diagrams when requirements change, </a:t>
            </a:r>
            <a:r>
              <a:rPr lang="en-IN" dirty="0" err="1"/>
              <a:t>MindSpace</a:t>
            </a:r>
            <a:r>
              <a:rPr lang="en-IN" dirty="0"/>
              <a:t> preserves valid work, handles interruptions, and dynamically updates the affected components. This can support use cases such as </a:t>
            </a:r>
            <a:r>
              <a:rPr lang="en-IN" b="1" dirty="0"/>
              <a:t>AI and multi-agent systems, cloud and distributed applications, SaaS platforms, event-driven systems, and real-time applications</a:t>
            </a:r>
            <a:r>
              <a:rPr lang="en-IN" dirty="0"/>
              <a:t>. By combining conversational interaction with state-aware architecture evolution, </a:t>
            </a:r>
            <a:r>
              <a:rPr lang="en-IN" dirty="0" err="1"/>
              <a:t>MindSpace</a:t>
            </a:r>
            <a:r>
              <a:rPr lang="en-IN" dirty="0"/>
              <a:t> reduces design friction and enables faster exploration of complex system designs.</a:t>
            </a:r>
          </a:p>
          <a:p>
            <a:pPr marL="228600" lvl="0" indent="-50800" algn="l" rtl="0">
              <a:lnSpc>
                <a:spcPct val="90000"/>
              </a:lnSpc>
              <a:spcBef>
                <a:spcPts val="0"/>
              </a:spcBef>
              <a:spcAft>
                <a:spcPts val="0"/>
              </a:spcAft>
              <a:buClr>
                <a:schemeClr val="dk1"/>
              </a:buClr>
              <a:buSzPts val="2800"/>
              <a:buNone/>
            </a:pPr>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704EA6"/>
              </a:buClr>
              <a:buSzPts val="4400"/>
              <a:buFont typeface="Calibri"/>
              <a:buNone/>
            </a:pPr>
            <a:r>
              <a:rPr lang="en-US" sz="4400" b="1" dirty="0">
                <a:solidFill>
                  <a:srgbClr val="704EA6"/>
                </a:solidFill>
                <a:latin typeface="Calibri"/>
                <a:ea typeface="Calibri"/>
                <a:cs typeface="Calibri"/>
                <a:sym typeface="Calibri"/>
              </a:rPr>
              <a:t>Innovation highlights, results and limitations</a:t>
            </a:r>
            <a:endParaRPr sz="4400" b="1" dirty="0">
              <a:solidFill>
                <a:srgbClr val="704EA6"/>
              </a:solidFill>
            </a:endParaRPr>
          </a:p>
        </p:txBody>
      </p:sp>
      <p:sp>
        <p:nvSpPr>
          <p:cNvPr id="138" name="Google Shape;138;p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fontScale="92500" lnSpcReduction="20000"/>
          </a:bodyPr>
          <a:lstStyle/>
          <a:p>
            <a:pPr marL="228600" indent="-50800">
              <a:spcBef>
                <a:spcPts val="0"/>
              </a:spcBef>
              <a:buSzPts val="2800"/>
              <a:buNone/>
            </a:pPr>
            <a:r>
              <a:rPr lang="en-IN" b="1" dirty="0"/>
              <a:t>Innovation Highlights:</a:t>
            </a:r>
            <a:r>
              <a:rPr lang="en-IN" dirty="0"/>
              <a:t> </a:t>
            </a:r>
            <a:r>
              <a:rPr lang="en-IN" dirty="0" err="1"/>
              <a:t>MindSpace</a:t>
            </a:r>
            <a:r>
              <a:rPr lang="en-IN" dirty="0"/>
              <a:t> combines voice-native interaction with an interruptible, state-aware architecture engine that can asynchronously execute architecture changes while continuously listening for updated requirements. Its key innovation is the ability to cancel or supersede stale operations, preserve valid state, and dynamically replan the affected architecture instead of restarting from scratch. </a:t>
            </a:r>
          </a:p>
          <a:p>
            <a:pPr marL="228600" indent="-50800">
              <a:spcBef>
                <a:spcPts val="0"/>
              </a:spcBef>
              <a:buSzPts val="2800"/>
              <a:buNone/>
            </a:pPr>
            <a:r>
              <a:rPr lang="en-IN" b="1" dirty="0"/>
              <a:t>Results:</a:t>
            </a:r>
            <a:r>
              <a:rPr lang="en-IN" dirty="0"/>
              <a:t> The system successfully generates architecture graphs from natural-language requirements, supports real-time modifications and self-corrections such as Kafka → RabbitMQ, preserves unaffected components, and visually reflects the evolving architecture through React Flow. </a:t>
            </a:r>
          </a:p>
          <a:p>
            <a:pPr marL="228600" indent="-50800">
              <a:spcBef>
                <a:spcPts val="0"/>
              </a:spcBef>
              <a:buSzPts val="2800"/>
              <a:buNone/>
            </a:pPr>
            <a:r>
              <a:rPr lang="en-IN" b="1" dirty="0"/>
              <a:t>Limitations:</a:t>
            </a:r>
            <a:r>
              <a:rPr lang="en-IN" dirty="0"/>
              <a:t> Complex or highly ambiguous requirements may require clarification, architecture quality depends on the underlying interpretation and planning model, and real-time voice performance can vary with the speech/LLM runtime and network conditions. Comprehensive benchmark performance should only be reported after formal FDB-v3 evaluation.</a:t>
            </a:r>
          </a:p>
          <a:p>
            <a:pPr marL="228600" indent="-50800">
              <a:spcBef>
                <a:spcPts val="0"/>
              </a:spcBef>
              <a:buSzPts val="2800"/>
              <a:buNone/>
            </a:pPr>
            <a:endParaRPr lang="en-IN" dirty="0"/>
          </a:p>
          <a:p>
            <a:pPr marL="228600" lvl="0" indent="-50800" algn="l" rtl="0">
              <a:lnSpc>
                <a:spcPct val="90000"/>
              </a:lnSpc>
              <a:spcBef>
                <a:spcPts val="0"/>
              </a:spcBef>
              <a:spcAft>
                <a:spcPts val="0"/>
              </a:spcAft>
              <a:buClr>
                <a:schemeClr val="dk1"/>
              </a:buClr>
              <a:buSzPts val="2800"/>
              <a:buNone/>
            </a:pPr>
            <a:endParaRPr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704EA6"/>
              </a:buClr>
              <a:buSzPts val="4400"/>
              <a:buFont typeface="Calibri"/>
              <a:buNone/>
            </a:pPr>
            <a:r>
              <a:rPr lang="en-US" sz="4400" b="1" dirty="0">
                <a:solidFill>
                  <a:srgbClr val="704EA6"/>
                </a:solidFill>
                <a:latin typeface="Calibri"/>
                <a:ea typeface="Calibri"/>
                <a:cs typeface="Calibri"/>
                <a:sym typeface="Calibri"/>
              </a:rPr>
              <a:t>What’s next</a:t>
            </a:r>
            <a:endParaRPr sz="4400" b="1" dirty="0">
              <a:solidFill>
                <a:srgbClr val="704EA6"/>
              </a:solidFill>
            </a:endParaRPr>
          </a:p>
        </p:txBody>
      </p:sp>
      <p:sp>
        <p:nvSpPr>
          <p:cNvPr id="144" name="Google Shape;144;p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fontScale="92500" lnSpcReduction="10000"/>
          </a:bodyPr>
          <a:lstStyle/>
          <a:p>
            <a:pPr marL="228600" indent="-50800">
              <a:spcBef>
                <a:spcPts val="0"/>
              </a:spcBef>
              <a:buSzPts val="2800"/>
              <a:buNone/>
            </a:pPr>
            <a:r>
              <a:rPr lang="en-IN" dirty="0"/>
              <a:t>The next phase of </a:t>
            </a:r>
            <a:r>
              <a:rPr lang="en-IN" dirty="0" err="1"/>
              <a:t>MindSpace</a:t>
            </a:r>
            <a:r>
              <a:rPr lang="en-IN" dirty="0"/>
              <a:t> is to introduce </a:t>
            </a:r>
            <a:r>
              <a:rPr lang="en-IN" b="1" dirty="0"/>
              <a:t>offline and local AI capabilities</a:t>
            </a:r>
            <a:r>
              <a:rPr lang="en-IN" dirty="0"/>
              <a:t> by integrating a lightweight local language model through a runtime such as </a:t>
            </a:r>
            <a:r>
              <a:rPr lang="en-IN" dirty="0" err="1"/>
              <a:t>Ollama</a:t>
            </a:r>
            <a:r>
              <a:rPr lang="en-IN" dirty="0"/>
              <a:t>. This will allow architecture requirements, intent interpretation, planning, and requirement corrections to be processed locally without depending entirely on cloud-based AI services. The system will support a hybrid approach where users can switch between local and cloud inference based on availability and performance requirements. Future development will also focus on improving architecture reasoning for complex systems, reducing response latency, expanding voice-native interaction, strengthening FDB-v3 benchmark performance, and enabling more advanced architecture analysis such as dependency validation, bottleneck detection, and automated design recommendations.</a:t>
            </a:r>
          </a:p>
          <a:p>
            <a:pPr marL="228600" lvl="0" indent="-50800" algn="l" rtl="0">
              <a:lnSpc>
                <a:spcPct val="90000"/>
              </a:lnSpc>
              <a:spcBef>
                <a:spcPts val="0"/>
              </a:spcBef>
              <a:spcAft>
                <a:spcPts val="0"/>
              </a:spcAft>
              <a:buClr>
                <a:schemeClr val="dk1"/>
              </a:buClr>
              <a:buSzPts val="2800"/>
              <a:buNone/>
            </a:pPr>
            <a:endParaRP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704EA6"/>
              </a:buClr>
              <a:buSzPts val="4400"/>
              <a:buFont typeface="Calibri"/>
              <a:buNone/>
            </a:pPr>
            <a:r>
              <a:rPr lang="en-US" sz="4400" b="1" dirty="0">
                <a:solidFill>
                  <a:srgbClr val="704EA6"/>
                </a:solidFill>
                <a:latin typeface="Calibri"/>
                <a:ea typeface="Calibri"/>
                <a:cs typeface="Calibri"/>
                <a:sym typeface="Calibri"/>
              </a:rPr>
              <a:t>Brownie points slide( differentiation)</a:t>
            </a:r>
            <a:endParaRPr sz="4400" b="1" dirty="0">
              <a:solidFill>
                <a:srgbClr val="704EA6"/>
              </a:solidFill>
            </a:endParaRPr>
          </a:p>
        </p:txBody>
      </p:sp>
      <p:sp>
        <p:nvSpPr>
          <p:cNvPr id="150" name="Google Shape;150;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fontScale="92500" lnSpcReduction="10000"/>
          </a:bodyPr>
          <a:lstStyle/>
          <a:p>
            <a:pPr marL="228600" indent="-50800">
              <a:spcBef>
                <a:spcPts val="0"/>
              </a:spcBef>
              <a:buSzPts val="2800"/>
              <a:buNone/>
            </a:pPr>
            <a:r>
              <a:rPr lang="en-IN" dirty="0"/>
              <a:t>Unlike conventional AI assistants that primarily generate architecture suggestions or static diagrams, </a:t>
            </a:r>
            <a:r>
              <a:rPr lang="en-IN" dirty="0" err="1"/>
              <a:t>MindSpace</a:t>
            </a:r>
            <a:r>
              <a:rPr lang="en-IN" dirty="0"/>
              <a:t> is designed as an </a:t>
            </a:r>
            <a:r>
              <a:rPr lang="en-IN" b="1" dirty="0"/>
              <a:t>interruptible architecture execution system</a:t>
            </a:r>
            <a:r>
              <a:rPr lang="en-IN" dirty="0"/>
              <a:t>. It maintains a live, versioned architecture state while operations execute asynchronously, allowing users to interrupt, correct, or extend requirements at any point. Instead of restarting when the requirement changes, </a:t>
            </a:r>
            <a:r>
              <a:rPr lang="en-IN" dirty="0" err="1"/>
              <a:t>MindSpace</a:t>
            </a:r>
            <a:r>
              <a:rPr lang="en-IN" dirty="0"/>
              <a:t> identifies stale operations, cancels or supersedes them, preserves valid work, and replans only the affected architecture before continuing execution. Its combination of </a:t>
            </a:r>
            <a:r>
              <a:rPr lang="en-IN" b="1" dirty="0"/>
              <a:t>voice-native interaction, asynchronous execution, live graph evolution, state-aware interruption, self-correction, and dependency-aware replanning</a:t>
            </a:r>
            <a:r>
              <a:rPr lang="en-IN" dirty="0"/>
              <a:t> creates a specialized workflow for evolving system design. The planned offline/local AI capability will further enable architecture reasoning without continuous dependence on cloud-based models.</a:t>
            </a:r>
          </a:p>
          <a:p>
            <a:pPr marL="228600" lvl="0" indent="-50800" algn="l" rtl="0">
              <a:lnSpc>
                <a:spcPct val="90000"/>
              </a:lnSpc>
              <a:spcBef>
                <a:spcPts val="0"/>
              </a:spcBef>
              <a:spcAft>
                <a:spcPts val="0"/>
              </a:spcAft>
              <a:buClr>
                <a:schemeClr val="dk1"/>
              </a:buClr>
              <a:buSzPts val="2800"/>
              <a:buNone/>
            </a:pPr>
            <a:endParaRPr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704EA6"/>
              </a:buClr>
              <a:buSzPts val="4400"/>
              <a:buFont typeface="Calibri"/>
              <a:buNone/>
            </a:pPr>
            <a:r>
              <a:rPr lang="en-US" b="1">
                <a:solidFill>
                  <a:srgbClr val="704EA6"/>
                </a:solidFill>
                <a:latin typeface="Calibri"/>
                <a:ea typeface="Calibri"/>
                <a:cs typeface="Calibri"/>
                <a:sym typeface="Calibri"/>
              </a:rPr>
              <a:t>Checklist- Updated on Public GitHub</a:t>
            </a:r>
            <a:endParaRPr/>
          </a:p>
        </p:txBody>
      </p:sp>
      <p:sp>
        <p:nvSpPr>
          <p:cNvPr id="156" name="Google Shape;156;p1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177800" lvl="0" indent="-177800" algn="l" rtl="0">
              <a:lnSpc>
                <a:spcPct val="90000"/>
              </a:lnSpc>
              <a:spcBef>
                <a:spcPts val="0"/>
              </a:spcBef>
              <a:spcAft>
                <a:spcPts val="0"/>
              </a:spcAft>
              <a:buClr>
                <a:srgbClr val="63637E"/>
              </a:buClr>
              <a:buSzPts val="2800"/>
              <a:buChar char="•"/>
            </a:pPr>
            <a:r>
              <a:rPr lang="en-US" sz="2800" dirty="0">
                <a:solidFill>
                  <a:srgbClr val="63637E"/>
                </a:solidFill>
                <a:latin typeface="Calibri"/>
                <a:ea typeface="Calibri"/>
                <a:cs typeface="Calibri"/>
                <a:sym typeface="Calibri"/>
              </a:rPr>
              <a:t>Working prototype code — public or shared GitHub repo (Y)</a:t>
            </a:r>
            <a:endParaRPr sz="2800" dirty="0"/>
          </a:p>
          <a:p>
            <a:pPr marL="177800" lvl="0" indent="-177800" algn="l" rtl="0">
              <a:lnSpc>
                <a:spcPct val="90000"/>
              </a:lnSpc>
              <a:spcBef>
                <a:spcPts val="1500"/>
              </a:spcBef>
              <a:spcAft>
                <a:spcPts val="0"/>
              </a:spcAft>
              <a:buClr>
                <a:srgbClr val="63637E"/>
              </a:buClr>
              <a:buSzPts val="2800"/>
              <a:buChar char="•"/>
            </a:pPr>
            <a:r>
              <a:rPr lang="en-US" sz="2800" dirty="0">
                <a:solidFill>
                  <a:srgbClr val="63637E"/>
                </a:solidFill>
                <a:latin typeface="Calibri"/>
                <a:ea typeface="Calibri"/>
                <a:cs typeface="Calibri"/>
                <a:sym typeface="Calibri"/>
              </a:rPr>
              <a:t>README with reproducible setup instructions (Y)</a:t>
            </a:r>
            <a:endParaRPr sz="2800" dirty="0"/>
          </a:p>
          <a:p>
            <a:pPr marL="177800" lvl="0" indent="-177800" algn="l" rtl="0">
              <a:lnSpc>
                <a:spcPct val="90000"/>
              </a:lnSpc>
              <a:spcBef>
                <a:spcPts val="1500"/>
              </a:spcBef>
              <a:spcAft>
                <a:spcPts val="0"/>
              </a:spcAft>
              <a:buClr>
                <a:srgbClr val="63637E"/>
              </a:buClr>
              <a:buSzPts val="2800"/>
              <a:buChar char="•"/>
            </a:pPr>
            <a:r>
              <a:rPr lang="en-US" sz="2800" dirty="0">
                <a:solidFill>
                  <a:srgbClr val="63637E"/>
                </a:solidFill>
                <a:latin typeface="Calibri"/>
                <a:ea typeface="Calibri"/>
                <a:cs typeface="Calibri"/>
                <a:sym typeface="Calibri"/>
              </a:rPr>
              <a:t>Demo video, max 5 minutes (YouTube or Drive link)</a:t>
            </a:r>
            <a:endParaRPr sz="2800" dirty="0"/>
          </a:p>
          <a:p>
            <a:pPr marL="177800" lvl="0" indent="-177800" algn="l" rtl="0">
              <a:lnSpc>
                <a:spcPct val="90000"/>
              </a:lnSpc>
              <a:spcBef>
                <a:spcPts val="1500"/>
              </a:spcBef>
              <a:spcAft>
                <a:spcPts val="0"/>
              </a:spcAft>
              <a:buClr>
                <a:srgbClr val="63637E"/>
              </a:buClr>
              <a:buSzPts val="2800"/>
              <a:buChar char="•"/>
            </a:pPr>
            <a:r>
              <a:rPr lang="en-US" sz="2800" dirty="0">
                <a:solidFill>
                  <a:srgbClr val="63637E"/>
                </a:solidFill>
                <a:latin typeface="Calibri"/>
                <a:ea typeface="Calibri"/>
                <a:cs typeface="Calibri"/>
                <a:sym typeface="Calibri"/>
              </a:rPr>
              <a:t>Presentation file (PPT or PDF) (Y)</a:t>
            </a:r>
            <a:endParaRPr sz="2800" dirty="0"/>
          </a:p>
          <a:p>
            <a:pPr marL="0" lvl="0" indent="0" algn="l" rtl="0">
              <a:lnSpc>
                <a:spcPct val="90000"/>
              </a:lnSpc>
              <a:spcBef>
                <a:spcPts val="1500"/>
              </a:spcBef>
              <a:spcAft>
                <a:spcPts val="0"/>
              </a:spcAft>
              <a:buClr>
                <a:schemeClr val="dk1"/>
              </a:buClr>
              <a:buSzPts val="2800"/>
              <a:buNone/>
            </a:pPr>
            <a:endParaRPr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12"/>
          <p:cNvSpPr txBox="1"/>
          <p:nvPr/>
        </p:nvSpPr>
        <p:spPr>
          <a:xfrm>
            <a:off x="1046181" y="3730214"/>
            <a:ext cx="6766560" cy="8686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4142B"/>
              </a:buClr>
              <a:buSzPts val="4600"/>
              <a:buFont typeface="Arial"/>
              <a:buNone/>
            </a:pPr>
            <a:r>
              <a:rPr lang="en-US" sz="4600" b="1" i="0" u="none" strike="noStrike" cap="none">
                <a:solidFill>
                  <a:srgbClr val="14142B"/>
                </a:solidFill>
                <a:latin typeface="Arial"/>
                <a:ea typeface="Arial"/>
                <a:cs typeface="Arial"/>
                <a:sym typeface="Arial"/>
              </a:rPr>
              <a:t>Thank you</a:t>
            </a:r>
            <a:endParaRPr sz="4600" b="0" i="0" u="none" strike="noStrike" cap="none">
              <a:solidFill>
                <a:schemeClr val="dk1"/>
              </a:solidFill>
              <a:latin typeface="Calibri"/>
              <a:ea typeface="Calibri"/>
              <a:cs typeface="Calibri"/>
              <a:sym typeface="Calibri"/>
            </a:endParaRPr>
          </a:p>
        </p:txBody>
      </p:sp>
      <p:sp>
        <p:nvSpPr>
          <p:cNvPr id="163" name="Google Shape;163;p12"/>
          <p:cNvSpPr txBox="1"/>
          <p:nvPr/>
        </p:nvSpPr>
        <p:spPr>
          <a:xfrm>
            <a:off x="777240" y="5897880"/>
            <a:ext cx="10607040"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3637E"/>
              </a:buClr>
              <a:buSzPts val="1100"/>
              <a:buFont typeface="Calibri"/>
              <a:buNone/>
            </a:pPr>
            <a:r>
              <a:rPr lang="en-US" sz="1100" b="0" i="0" u="none" strike="noStrike" cap="none">
                <a:solidFill>
                  <a:srgbClr val="63637E"/>
                </a:solidFill>
                <a:latin typeface="Calibri"/>
                <a:ea typeface="Calibri"/>
                <a:cs typeface="Calibri"/>
                <a:sym typeface="Calibri"/>
              </a:rPr>
              <a:t>Organised by the Language AI Team and the PRISM Team, Samsung R&amp;D Institute India</a:t>
            </a:r>
            <a:endParaRPr sz="1100" b="0" i="0" u="none" strike="noStrike" cap="non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64</TotalTime>
  <Words>1405</Words>
  <Application>Microsoft Office PowerPoint</Application>
  <PresentationFormat>Widescreen</PresentationFormat>
  <Paragraphs>42</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PowerPoint Presentation</vt:lpstr>
      <vt:lpstr>Theme</vt:lpstr>
      <vt:lpstr>Existing Solutions &amp; Gaps</vt:lpstr>
      <vt:lpstr>Our Solutions &amp; Architecture Diagram</vt:lpstr>
      <vt:lpstr>Demo &amp; Product Walkthrough</vt:lpstr>
      <vt:lpstr>Tools and tech stack used</vt:lpstr>
      <vt:lpstr>Impact &amp; Use case</vt:lpstr>
      <vt:lpstr>Innovation highlights, results and limitations</vt:lpstr>
      <vt:lpstr>What’s next</vt:lpstr>
      <vt:lpstr>Brownie points slide( differentiation)</vt:lpstr>
      <vt:lpstr>Checklist- Updated on Public GitHub</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Binny Lakra/PRISM /SRI-Bangalore/Professional/Samsung Electronics</dc:creator>
  <cp:lastModifiedBy>K Rao</cp:lastModifiedBy>
  <cp:revision>17</cp:revision>
  <dcterms:created xsi:type="dcterms:W3CDTF">2026-09-07T12:01:01Z</dcterms:created>
  <dcterms:modified xsi:type="dcterms:W3CDTF">2026-10-04T13:53:41Z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SCPROP">
    <vt:lpwstr>NSCCustomProperty</vt:lpwstr>
  </property>
</Properties>
</file>